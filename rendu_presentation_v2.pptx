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2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C8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dirty="0">
                <a:solidFill>
                  <a:srgbClr val="075D66"/>
                </a:solidFill>
                <a:latin typeface="Calibri"/>
              </a:rPr>
              <a:t>REPORTING ET RESTITUTION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32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142128"/>
                </a:solidFill>
                <a:latin typeface="Calibri"/>
              </a:rPr>
              <a:t>US Flight Delays and Cancellations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687985"/>
                </a:solidFill>
                <a:latin typeface="Calibri"/>
              </a:rPr>
              <a:t>Retards et annulations des vols domestiques américains : quand, qui, où ?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86200"/>
            <a:ext cx="2926080" cy="28575"/>
          </a:xfrm>
          <a:prstGeom prst="rect">
            <a:avLst/>
          </a:prstGeom>
          <a:solidFill>
            <a:srgbClr val="0C8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128"/>
                </a:solidFill>
                <a:latin typeface="Calibri"/>
              </a:rPr>
              <a:t>POPESCU Dan</a:t>
            </a:r>
            <a:r>
              <a:rPr sz="1700" b="0" i="0">
                <a:solidFill>
                  <a:srgbClr val="687985"/>
                </a:solidFill>
                <a:latin typeface="Calibri"/>
              </a:rPr>
              <a:t>   ·   </a:t>
            </a:r>
            <a:r>
              <a:rPr sz="1700" b="1" i="0">
                <a:solidFill>
                  <a:srgbClr val="142128"/>
                </a:solidFill>
                <a:latin typeface="Calibri"/>
              </a:rPr>
              <a:t>BEN AMMAR Medy</a:t>
            </a:r>
            <a:r>
              <a:rPr sz="1700" b="0" i="0">
                <a:solidFill>
                  <a:srgbClr val="687985"/>
                </a:solidFill>
                <a:latin typeface="Calibri"/>
              </a:rPr>
              <a:t>   ·   </a:t>
            </a:r>
            <a:r>
              <a:rPr sz="1700" b="1" i="0">
                <a:solidFill>
                  <a:srgbClr val="142128"/>
                </a:solidFill>
                <a:latin typeface="Calibri"/>
              </a:rPr>
              <a:t>SATOURI Ahmed</a:t>
            </a:r>
            <a:r>
              <a:rPr sz="1700" b="0" i="0">
                <a:solidFill>
                  <a:srgbClr val="687985"/>
                </a:solidFill>
                <a:latin typeface="Calibri"/>
              </a:rPr>
              <a:t>   ·   </a:t>
            </a:r>
            <a:r>
              <a:rPr sz="1700" b="1" i="0">
                <a:solidFill>
                  <a:srgbClr val="142128"/>
                </a:solidFill>
                <a:latin typeface="Calibri"/>
              </a:rPr>
              <a:t>PALMIER Robin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8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75D66"/>
                </a:solidFill>
                <a:latin typeface="Calibri"/>
              </a:rPr>
              <a:t>LE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28"/>
                </a:solidFill>
                <a:latin typeface="Calibri"/>
              </a:rPr>
              <a:t>5,8 millions de vols sous la loupe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87985"/>
                </a:solidFill>
                <a:latin typeface="Calibri"/>
              </a:rPr>
              <a:t>US Flight Delays and Cancellations 2015 — Reporting et Restitution · ESGI M1 IA &amp; Big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5566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87985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1207008"/>
            <a:ext cx="111556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0C8792"/>
                </a:solidFill>
                <a:latin typeface="Calibri"/>
              </a:rPr>
              <a:t>▪  </a:t>
            </a:r>
            <a:r>
              <a:rPr sz="1350" b="1">
                <a:solidFill>
                  <a:srgbClr val="142128"/>
                </a:solidFill>
                <a:latin typeface="Calibri"/>
              </a:rPr>
              <a:t>Recense tous les vols intérieurs américains de l'année 2015</a:t>
            </a:r>
            <a:r>
              <a:rPr sz="1350" b="0">
                <a:solidFill>
                  <a:srgbClr val="142128"/>
                </a:solidFill>
                <a:latin typeface="Calibri"/>
              </a:rPr>
              <a:t> — 5 819 079 enregistrements, 31 colonnes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0C8792"/>
                </a:solidFill>
                <a:latin typeface="Calibri"/>
              </a:rPr>
              <a:t>▪  </a:t>
            </a:r>
            <a:r>
              <a:rPr sz="1350" b="1">
                <a:solidFill>
                  <a:srgbClr val="142128"/>
                </a:solidFill>
                <a:latin typeface="Calibri"/>
              </a:rPr>
              <a:t>Trois fichiers croisés</a:t>
            </a:r>
            <a:r>
              <a:rPr sz="1350" b="0">
                <a:solidFill>
                  <a:srgbClr val="142128"/>
                </a:solidFill>
                <a:latin typeface="Calibri"/>
              </a:rPr>
              <a:t> : les vols, l'annuaire des 14 compagnies, les 322 aéroports avec coordonnées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0C8792"/>
                </a:solidFill>
                <a:latin typeface="Calibri"/>
              </a:rPr>
              <a:t>▪  </a:t>
            </a:r>
            <a:r>
              <a:rPr sz="1350" b="1">
                <a:solidFill>
                  <a:srgbClr val="142128"/>
                </a:solidFill>
                <a:latin typeface="Calibri"/>
              </a:rPr>
              <a:t>Une ligne = un vol programmé</a:t>
            </a:r>
            <a:r>
              <a:rPr sz="1350" b="0">
                <a:solidFill>
                  <a:srgbClr val="142128"/>
                </a:solidFill>
                <a:latin typeface="Calibri"/>
              </a:rPr>
              <a:t> : date, compagnie, aéroports, horaires, retard, annulation et motif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0C8792"/>
                </a:solidFill>
                <a:latin typeface="Calibri"/>
              </a:rPr>
              <a:t>▪  </a:t>
            </a:r>
            <a:r>
              <a:rPr sz="1350" b="1">
                <a:solidFill>
                  <a:srgbClr val="142128"/>
                </a:solidFill>
                <a:latin typeface="Calibri"/>
              </a:rPr>
              <a:t>Source</a:t>
            </a:r>
            <a:r>
              <a:rPr sz="1350" b="0">
                <a:solidFill>
                  <a:srgbClr val="142128"/>
                </a:solidFill>
                <a:latin typeface="Calibri"/>
              </a:rPr>
              <a:t> : Kaggle / U.S. DOT — kaggle.com/datasets/usdot/flight-delays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2432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87985"/>
                </a:solidFill>
                <a:latin typeface="Calibri"/>
              </a:rPr>
              <a:t>Extrait du fichier des vols (données réelles) :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2920" y="2724912"/>
          <a:ext cx="111556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51560"/>
                <a:gridCol w="1508760"/>
                <a:gridCol w="1783080"/>
                <a:gridCol w="1143000"/>
                <a:gridCol w="1508760"/>
                <a:gridCol w="1234440"/>
                <a:gridCol w="1691640"/>
              </a:tblGrid>
              <a:tr h="30175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075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AIRLINE</a:t>
                      </a:r>
                    </a:p>
                  </a:txBody>
                  <a:tcPr>
                    <a:solidFill>
                      <a:srgbClr val="075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ORIGIN_AIRPORT</a:t>
                      </a:r>
                    </a:p>
                  </a:txBody>
                  <a:tcPr>
                    <a:solidFill>
                      <a:srgbClr val="075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DESTINATION_AIRPORT</a:t>
                      </a:r>
                    </a:p>
                  </a:txBody>
                  <a:tcPr>
                    <a:solidFill>
                      <a:srgbClr val="075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DISTANCE</a:t>
                      </a:r>
                    </a:p>
                  </a:txBody>
                  <a:tcPr>
                    <a:solidFill>
                      <a:srgbClr val="075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ARRIVAL_DELAY</a:t>
                      </a:r>
                    </a:p>
                  </a:txBody>
                  <a:tcPr>
                    <a:solidFill>
                      <a:srgbClr val="075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075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CANCELLATION_REASON</a:t>
                      </a:r>
                    </a:p>
                  </a:txBody>
                  <a:tcPr>
                    <a:solidFill>
                      <a:srgbClr val="075D6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01/04/2015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ATL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MDW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01/06/2015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NK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ORD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LGA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733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+85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4F7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01/02/2015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B6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BOS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01/01/2015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DL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JFK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LAX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2475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-10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12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02920" y="443484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87985"/>
                </a:solidFill>
                <a:latin typeface="Calibri"/>
              </a:rPr>
              <a:t>Les colonnes clés 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736592"/>
            <a:ext cx="5486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▪  </a:t>
            </a:r>
            <a:r>
              <a:rPr sz="1250" b="1">
                <a:solidFill>
                  <a:srgbClr val="075D66"/>
                </a:solidFill>
                <a:latin typeface="Calibri"/>
              </a:rPr>
              <a:t>AIRLINE</a:t>
            </a:r>
            <a:r>
              <a:rPr sz="1250" b="0">
                <a:solidFill>
                  <a:srgbClr val="142128"/>
                </a:solidFill>
                <a:latin typeface="Calibri"/>
              </a:rPr>
              <a:t> : code de la compagnie aérienne (14 compagnies)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▪  </a:t>
            </a:r>
            <a:r>
              <a:rPr sz="1250" b="1">
                <a:solidFill>
                  <a:srgbClr val="075D66"/>
                </a:solidFill>
                <a:latin typeface="Calibri"/>
              </a:rPr>
              <a:t>ORIGIN / DESTINATION_AIRPORT</a:t>
            </a:r>
            <a:r>
              <a:rPr sz="1250" b="0">
                <a:solidFill>
                  <a:srgbClr val="142128"/>
                </a:solidFill>
                <a:latin typeface="Calibri"/>
              </a:rPr>
              <a:t> : aéroports de départ et d'arrivée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▪  </a:t>
            </a:r>
            <a:r>
              <a:rPr sz="1250" b="1">
                <a:solidFill>
                  <a:srgbClr val="075D66"/>
                </a:solidFill>
                <a:latin typeface="Calibri"/>
              </a:rPr>
              <a:t>DISTANCE</a:t>
            </a:r>
            <a:r>
              <a:rPr sz="1250" b="0">
                <a:solidFill>
                  <a:srgbClr val="142128"/>
                </a:solidFill>
                <a:latin typeface="Calibri"/>
              </a:rPr>
              <a:t> : distance du vol en miles (1500 mi et plus = vol long)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4736592"/>
            <a:ext cx="5486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▪  </a:t>
            </a:r>
            <a:r>
              <a:rPr sz="1250" b="1">
                <a:solidFill>
                  <a:srgbClr val="075D66"/>
                </a:solidFill>
                <a:latin typeface="Calibri"/>
              </a:rPr>
              <a:t>ARRIVAL_DELAY</a:t>
            </a:r>
            <a:r>
              <a:rPr sz="1250" b="0">
                <a:solidFill>
                  <a:srgbClr val="142128"/>
                </a:solidFill>
                <a:latin typeface="Calibri"/>
              </a:rPr>
              <a:t> : retard à l'arrivée en minutes (négatif = en avance)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▪  </a:t>
            </a:r>
            <a:r>
              <a:rPr sz="1250" b="1">
                <a:solidFill>
                  <a:srgbClr val="075D66"/>
                </a:solidFill>
                <a:latin typeface="Calibri"/>
              </a:rPr>
              <a:t>CANCELLED + CANCELLATION_REASON</a:t>
            </a:r>
            <a:r>
              <a:rPr sz="1250" b="0">
                <a:solidFill>
                  <a:srgbClr val="142128"/>
                </a:solidFill>
                <a:latin typeface="Calibri"/>
              </a:rPr>
              <a:t> : annulation et son motif (A compagnie, B météo, C contrôle aérien, D sécurité)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▪  </a:t>
            </a:r>
            <a:r>
              <a:rPr sz="1250" b="1">
                <a:solidFill>
                  <a:srgbClr val="075D66"/>
                </a:solidFill>
                <a:latin typeface="Calibri"/>
              </a:rPr>
              <a:t>WEATHER_DELAY, LATE_AIRCRAFT_DELAY…</a:t>
            </a:r>
            <a:r>
              <a:rPr sz="1250" b="0">
                <a:solidFill>
                  <a:srgbClr val="142128"/>
                </a:solidFill>
                <a:latin typeface="Calibri"/>
              </a:rPr>
              <a:t> : décomposition des minutes de retard par cause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0533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75D66"/>
                </a:solidFill>
                <a:latin typeface="Calibri"/>
              </a:rPr>
              <a:t>Fichiers annexes, joints par le code IATA — </a:t>
            </a:r>
            <a:r>
              <a:rPr sz="1150" b="1">
                <a:solidFill>
                  <a:srgbClr val="687985"/>
                </a:solidFill>
                <a:latin typeface="Calibri"/>
              </a:rPr>
              <a:t>airlines.csv</a:t>
            </a:r>
            <a:r>
              <a:rPr sz="1150" b="0">
                <a:solidFill>
                  <a:srgbClr val="687985"/>
                </a:solidFill>
                <a:latin typeface="Calibri"/>
              </a:rPr>
              <a:t> : code → nom de la compagnie (14 lignes)   ·   </a:t>
            </a:r>
            <a:r>
              <a:rPr sz="1150" b="1">
                <a:solidFill>
                  <a:srgbClr val="687985"/>
                </a:solidFill>
                <a:latin typeface="Calibri"/>
              </a:rPr>
              <a:t>airports.csv</a:t>
            </a:r>
            <a:r>
              <a:rPr sz="1150" b="0">
                <a:solidFill>
                  <a:srgbClr val="687985"/>
                </a:solidFill>
                <a:latin typeface="Calibri"/>
              </a:rPr>
              <a:t> : code, ville, État, latitude/longitude — le fond de la carte (322 lignes)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8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75D66"/>
                </a:solidFill>
                <a:latin typeface="Calibri"/>
              </a:rPr>
              <a:t>TRAITEMENTS DES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28"/>
                </a:solidFill>
                <a:latin typeface="Calibri"/>
              </a:rPr>
              <a:t>De la donnée brute à l'analyse, en trois étapes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87985"/>
                </a:solidFill>
                <a:latin typeface="Calibri"/>
              </a:rPr>
              <a:t>US Flight Delays and Cancellations 2015 — Reporting et Restitution · ESGI M1 IA &amp; Big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87985"/>
                </a:solidFill>
                <a:latin typeface="Calibri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1691640"/>
            <a:ext cx="3401568" cy="42976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1911095"/>
            <a:ext cx="420624" cy="420624"/>
          </a:xfrm>
          <a:prstGeom prst="ellipse">
            <a:avLst/>
          </a:prstGeom>
          <a:solidFill>
            <a:srgbClr val="0C8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2728" y="1965960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1">
                <a:solidFill>
                  <a:srgbClr val="075D66"/>
                </a:solidFill>
                <a:latin typeface="Calibri"/>
              </a:rPr>
              <a:t>NETTOYER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2560320"/>
            <a:ext cx="294436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• </a:t>
            </a:r>
            <a:r>
              <a:rPr sz="1250" b="0">
                <a:solidFill>
                  <a:srgbClr val="142128"/>
                </a:solidFill>
                <a:latin typeface="Calibri"/>
              </a:rPr>
              <a:t>105 071 retards manquants identifiés : ce sont les vols annulés ou déroutés → exclus du calcul des retards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• </a:t>
            </a:r>
            <a:r>
              <a:rPr sz="1250" b="0">
                <a:solidFill>
                  <a:srgbClr val="142128"/>
                </a:solidFill>
                <a:latin typeface="Calibri"/>
              </a:rPr>
              <a:t>Codes aéroports incohérents en octobre → mois écarté de la seule analyse des routes (2,7 % des annulations)</a:t>
            </a:r>
          </a:p>
        </p:txBody>
      </p:sp>
      <p:sp>
        <p:nvSpPr>
          <p:cNvPr id="34" name="Chevron 33"/>
          <p:cNvSpPr/>
          <p:nvPr/>
        </p:nvSpPr>
        <p:spPr>
          <a:xfrm>
            <a:off x="3950208" y="3694176"/>
            <a:ext cx="292607" cy="292608"/>
          </a:xfrm>
          <a:prstGeom prst="chevron">
            <a:avLst/>
          </a:prstGeom>
          <a:solidFill>
            <a:srgbClr val="0C8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88536" y="1691640"/>
            <a:ext cx="3401568" cy="42976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17136" y="1911095"/>
            <a:ext cx="420624" cy="420624"/>
          </a:xfrm>
          <a:prstGeom prst="ellipse">
            <a:avLst/>
          </a:prstGeom>
          <a:solidFill>
            <a:srgbClr val="0C8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38344" y="1965960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1">
                <a:solidFill>
                  <a:srgbClr val="075D66"/>
                </a:solidFill>
                <a:latin typeface="Calibri"/>
              </a:rPr>
              <a:t>CONSTRUIRE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17136" y="2560320"/>
            <a:ext cx="294436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• </a:t>
            </a:r>
            <a:r>
              <a:rPr sz="1250" b="0">
                <a:solidFill>
                  <a:srgbClr val="142128"/>
                </a:solidFill>
                <a:latin typeface="Calibri"/>
              </a:rPr>
              <a:t>Retard officiel : arrivée à 15 min ou plus (norme US DOT)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• </a:t>
            </a:r>
            <a:r>
              <a:rPr sz="1250" b="0">
                <a:solidFill>
                  <a:srgbClr val="142128"/>
                </a:solidFill>
                <a:latin typeface="Calibri"/>
              </a:rPr>
              <a:t>Vol long : 1500 miles ou plus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• </a:t>
            </a:r>
            <a:r>
              <a:rPr sz="1250" b="0">
                <a:solidFill>
                  <a:srgbClr val="142128"/>
                </a:solidFill>
                <a:latin typeface="Calibri"/>
              </a:rPr>
              <a:t>Fenêtres de vacances 2015 bornées explicitement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• </a:t>
            </a:r>
            <a:r>
              <a:rPr sz="1250" b="0">
                <a:solidFill>
                  <a:srgbClr val="142128"/>
                </a:solidFill>
                <a:latin typeface="Calibri"/>
              </a:rPr>
              <a:t>Routes origine → destination</a:t>
            </a:r>
          </a:p>
        </p:txBody>
      </p:sp>
      <p:sp>
        <p:nvSpPr>
          <p:cNvPr id="39" name="Chevron 38"/>
          <p:cNvSpPr/>
          <p:nvPr/>
        </p:nvSpPr>
        <p:spPr>
          <a:xfrm>
            <a:off x="7735824" y="3694176"/>
            <a:ext cx="292607" cy="292608"/>
          </a:xfrm>
          <a:prstGeom prst="chevron">
            <a:avLst/>
          </a:prstGeom>
          <a:solidFill>
            <a:srgbClr val="0C8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74152" y="1691640"/>
            <a:ext cx="3401568" cy="42976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302752" y="1911095"/>
            <a:ext cx="420624" cy="420624"/>
          </a:xfrm>
          <a:prstGeom prst="ellipse">
            <a:avLst/>
          </a:prstGeom>
          <a:solidFill>
            <a:srgbClr val="0C8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1965960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1">
                <a:solidFill>
                  <a:srgbClr val="075D66"/>
                </a:solidFill>
                <a:latin typeface="Calibri"/>
              </a:rPr>
              <a:t>ANALYSER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2560320"/>
            <a:ext cx="294436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• </a:t>
            </a:r>
            <a:r>
              <a:rPr sz="1250">
                <a:solidFill>
                  <a:srgbClr val="142128"/>
                </a:solidFill>
                <a:latin typeface="Calibri"/>
              </a:rPr>
              <a:t>Agrégations par jour, compagnie et route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• </a:t>
            </a:r>
            <a:r>
              <a:rPr sz="1250">
                <a:solidFill>
                  <a:srgbClr val="142128"/>
                </a:solidFill>
                <a:latin typeface="Calibri"/>
              </a:rPr>
              <a:t>Chaque période de vacances comparée à une référence comparable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• </a:t>
            </a:r>
            <a:r>
              <a:rPr sz="1250">
                <a:solidFill>
                  <a:srgbClr val="142128"/>
                </a:solidFill>
                <a:latin typeface="Calibri"/>
              </a:rPr>
              <a:t>Part des retards portée par les vols longs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• </a:t>
            </a:r>
            <a:r>
              <a:rPr sz="1250">
                <a:solidFill>
                  <a:srgbClr val="142128"/>
                </a:solidFill>
                <a:latin typeface="Calibri"/>
              </a:rPr>
              <a:t>Concentration des annulations rapportée à celle du trafic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0C8792"/>
                </a:solidFill>
                <a:latin typeface="Calibri"/>
              </a:rPr>
              <a:t>• </a:t>
            </a:r>
            <a:r>
              <a:rPr sz="1250">
                <a:solidFill>
                  <a:srgbClr val="142128"/>
                </a:solidFill>
                <a:latin typeface="Calibri"/>
              </a:rPr>
              <a:t>Robustesse : résultats vérifiés sur d'autres seuils et périmètres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089904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75D66"/>
                </a:solidFill>
                <a:latin typeface="Calibri"/>
              </a:rPr>
              <a:t>Volumétrie — </a:t>
            </a:r>
            <a:r>
              <a:rPr sz="1150" b="0">
                <a:solidFill>
                  <a:srgbClr val="687985"/>
                </a:solidFill>
                <a:latin typeface="Calibri"/>
              </a:rPr>
              <a:t>fichier des vols de 592 Mo chargé en types compacts (~350 Mo en mémoire) ; la chaîne complète s'exécute en moins de 2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8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75D66"/>
                </a:solidFill>
                <a:latin typeface="Calibri"/>
              </a:rPr>
              <a:t>HYPOTHÈSES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28"/>
                </a:solidFill>
                <a:latin typeface="Calibri"/>
              </a:rPr>
              <a:t>Trois hypothèses posées avant l'analyse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1298448"/>
          </a:xfrm>
          <a:prstGeom prst="roundRect">
            <a:avLst>
              <a:gd name="adj" fmla="val 10000"/>
            </a:avLst>
          </a:prstGeom>
          <a:solidFill>
            <a:srgbClr val="F4F7F8"/>
          </a:solidFill>
          <a:ln w="1270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258568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75D66"/>
                </a:solidFill>
                <a:latin typeface="Calibri"/>
              </a:rPr>
              <a:t>H1 · QUAND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993392"/>
            <a:ext cx="8686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42128"/>
                </a:solidFill>
                <a:latin typeface="Calibri"/>
              </a:rPr>
              <a:t>Il y a plus de vols en retard pendant les vacances que le reste de l'année.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10128"/>
            <a:ext cx="11155680" cy="1298448"/>
          </a:xfrm>
          <a:prstGeom prst="roundRect">
            <a:avLst>
              <a:gd name="adj" fmla="val 10000"/>
            </a:avLst>
          </a:prstGeom>
          <a:solidFill>
            <a:srgbClr val="F4F7F8"/>
          </a:solidFill>
          <a:ln w="1270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3739896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 dirty="0">
                <a:solidFill>
                  <a:srgbClr val="075D66"/>
                </a:solidFill>
                <a:latin typeface="Calibri"/>
              </a:rPr>
              <a:t>H2 · QUI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474720"/>
            <a:ext cx="8686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42128"/>
                </a:solidFill>
                <a:latin typeface="Calibri"/>
              </a:rPr>
              <a:t>Les longs courriers composent la plus grande majorité des retards.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91456"/>
            <a:ext cx="11155680" cy="1298448"/>
          </a:xfrm>
          <a:prstGeom prst="roundRect">
            <a:avLst>
              <a:gd name="adj" fmla="val 10000"/>
            </a:avLst>
          </a:prstGeom>
          <a:solidFill>
            <a:srgbClr val="F4F7F8"/>
          </a:solidFill>
          <a:ln w="1270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" y="5221224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75D66"/>
                </a:solidFill>
                <a:latin typeface="Calibri"/>
              </a:rPr>
              <a:t>H3 · OÙ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956048"/>
            <a:ext cx="8686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42128"/>
                </a:solidFill>
                <a:latin typeface="Calibri"/>
              </a:rPr>
              <a:t>Une petite minorité de liaisons concentre la majorité des annulations.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87985"/>
                </a:solidFill>
                <a:latin typeface="Calibri"/>
              </a:rPr>
              <a:t>US Flight Delays and Cancellations 2015 — Reporting et Restitution · ESGI M1 IA &amp; Big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5566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8798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8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87985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capture_slide5_commi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86" y="294184"/>
            <a:ext cx="11522628" cy="6481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8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75D66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28"/>
                </a:solidFill>
                <a:latin typeface="Calibri"/>
              </a:rPr>
              <a:t>Ce que les données ont répondu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00784"/>
            <a:ext cx="50292" cy="1051560"/>
          </a:xfrm>
          <a:prstGeom prst="rect">
            <a:avLst/>
          </a:prstGeom>
          <a:solidFill>
            <a:srgbClr val="0C8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128"/>
                </a:solidFill>
                <a:latin typeface="Calibri"/>
              </a:rPr>
              <a:t>H1  </a:t>
            </a:r>
            <a:r>
              <a:rPr sz="1400" b="1" i="0">
                <a:solidFill>
                  <a:srgbClr val="0C8792"/>
                </a:solidFill>
                <a:latin typeface="Calibri"/>
              </a:rPr>
              <a:t>CONFIRMÉE, À PRÉCISER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42128"/>
                </a:solidFill>
                <a:latin typeface="Calibri"/>
              </a:rPr>
              <a:t>Ce ne sont pas « les vacances » qui retardent les vols, mais les pics de fin d'année : Nouvel an (+18 pts) et Noël (+15 pts). L'été pèse peu (+4 pts), Thanksgiving rien du tout.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99232"/>
            <a:ext cx="50292" cy="1051560"/>
          </a:xfrm>
          <a:prstGeom prst="rect">
            <a:avLst/>
          </a:prstGeom>
          <a:solidFill>
            <a:srgbClr val="EB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944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128"/>
                </a:solidFill>
                <a:latin typeface="Calibri"/>
              </a:rPr>
              <a:t>H2  </a:t>
            </a:r>
            <a:r>
              <a:rPr sz="1400" b="1" i="0">
                <a:solidFill>
                  <a:srgbClr val="EB5A3C"/>
                </a:solidFill>
                <a:latin typeface="Calibri"/>
              </a:rPr>
              <a:t>RÉFUTÉE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42128"/>
                </a:solidFill>
                <a:latin typeface="Calibri"/>
              </a:rPr>
              <a:t>Les vols longs ne portent que 13 % des retards — exactement leur part du trafic. La distance n'y change rien : les vols longs rattrapent jusqu'à 9 minutes en vol, et même les compagnies spécialisées ne sont pas plus en retard.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97680"/>
            <a:ext cx="50292" cy="1051560"/>
          </a:xfrm>
          <a:prstGeom prst="rect">
            <a:avLst/>
          </a:prstGeom>
          <a:solidFill>
            <a:srgbClr val="0C8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2428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128"/>
                </a:solidFill>
                <a:latin typeface="Calibri"/>
              </a:rPr>
              <a:t>H3  </a:t>
            </a:r>
            <a:r>
              <a:rPr sz="1400" b="1" i="0">
                <a:solidFill>
                  <a:srgbClr val="0C8792"/>
                </a:solidFill>
                <a:latin typeface="Calibri"/>
              </a:rPr>
              <a:t>CONFIRMÉE, À NUANCER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9028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42128"/>
                </a:solidFill>
                <a:latin typeface="Calibri"/>
              </a:rPr>
              <a:t>10 % des liaisons portent la moitié des annulations… mais déjà 39 % du trafic. À trafic égal, les liaisons sensibles — navettes du Nord-Est en hiver — sont annulées 2,6 fois plus souvent.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632704"/>
            <a:ext cx="11155680" cy="777240"/>
          </a:xfrm>
          <a:prstGeom prst="roundRect">
            <a:avLst>
              <a:gd name="adj" fmla="val 14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5632704"/>
            <a:ext cx="10698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75D66"/>
                </a:solidFill>
                <a:latin typeface="Calibri"/>
              </a:rPr>
              <a:t>Fil conducteur : </a:t>
            </a:r>
            <a:r>
              <a:rPr sz="1600" b="0" i="0">
                <a:solidFill>
                  <a:srgbClr val="142128"/>
                </a:solidFill>
                <a:latin typeface="Calibri"/>
              </a:rPr>
              <a:t>les retards suivent le calendrier, les annulations suivent la météo et le réseau — deux phénomènes à piloter séparément.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 dirty="0">
                <a:solidFill>
                  <a:srgbClr val="687985"/>
                </a:solidFill>
                <a:latin typeface="Calibri"/>
              </a:rPr>
              <a:t>US Flight Delays and Cancellations 2015 — Reporting et Restitution · ESGI M1 IA &amp; Big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5566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8798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8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75D66"/>
                </a:solidFill>
                <a:latin typeface="Calibri"/>
              </a:rPr>
              <a:t>RÉFÉRENCES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28"/>
                </a:solidFill>
                <a:latin typeface="Calibri"/>
              </a:rPr>
              <a:t>Sources et outils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11556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00" b="1" i="0">
                <a:solidFill>
                  <a:srgbClr val="0C8792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42128"/>
                </a:solidFill>
                <a:latin typeface="Calibri"/>
              </a:rPr>
              <a:t>Dataset</a:t>
            </a:r>
            <a:r>
              <a:rPr sz="1600" b="0" i="0">
                <a:solidFill>
                  <a:srgbClr val="142128"/>
                </a:solidFill>
                <a:latin typeface="Calibri"/>
              </a:rPr>
              <a:t> — « 2015 Flight Delays and Cancellations », Kaggle / U.S. Department of Transportation — kaggle.com/datasets/usdot/flight-delays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00" b="1" i="0">
                <a:solidFill>
                  <a:srgbClr val="0C8792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42128"/>
                </a:solidFill>
                <a:latin typeface="Calibri"/>
              </a:rPr>
              <a:t>Norme de ponctualité</a:t>
            </a:r>
            <a:r>
              <a:rPr sz="1600" b="0" i="0">
                <a:solidFill>
                  <a:srgbClr val="142128"/>
                </a:solidFill>
                <a:latin typeface="Calibri"/>
              </a:rPr>
              <a:t> — U.S. DOT, Bureau of Transportation Statistics — un vol est en retard à partir de 15 minutes après l'horaire d'arrivée prévu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00" b="1" i="0">
                <a:solidFill>
                  <a:srgbClr val="0C8792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42128"/>
                </a:solidFill>
                <a:latin typeface="Calibri"/>
              </a:rPr>
              <a:t>Fond de carte</a:t>
            </a:r>
            <a:r>
              <a:rPr sz="1600" b="0" i="0">
                <a:solidFill>
                  <a:srgbClr val="142128"/>
                </a:solidFill>
                <a:latin typeface="Calibri"/>
              </a:rPr>
              <a:t> — US Atlas TopoJSON — github.com/topojson/us-atlas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00" b="1" i="0">
                <a:solidFill>
                  <a:srgbClr val="0C8792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42128"/>
                </a:solidFill>
                <a:latin typeface="Calibri"/>
              </a:rPr>
              <a:t>Analyse</a:t>
            </a:r>
            <a:r>
              <a:rPr sz="1600" b="0" i="0">
                <a:solidFill>
                  <a:srgbClr val="142128"/>
                </a:solidFill>
                <a:latin typeface="Calibri"/>
              </a:rPr>
              <a:t> — Python : pandas, NumPy, SciPy, Matplotlib — notebook Jupyter unique, de la donnée brute au dashboard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00" b="1" i="0">
                <a:solidFill>
                  <a:srgbClr val="0C8792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42128"/>
                </a:solidFill>
                <a:latin typeface="Calibri"/>
              </a:rPr>
              <a:t>Restitution</a:t>
            </a:r>
            <a:r>
              <a:rPr sz="1600" b="0" i="0">
                <a:solidFill>
                  <a:srgbClr val="142128"/>
                </a:solidFill>
                <a:latin typeface="Calibri"/>
              </a:rPr>
              <a:t> — dashboard HTML autonome (aucune connexion requise), alimenté automatiquement par le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87985"/>
                </a:solidFill>
                <a:latin typeface="Calibri"/>
              </a:rPr>
              <a:t>US Flight Delays and Cancellations 2015 — Reporting et Restitution · ESGI M1 IA &amp; Big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8798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751</Words>
  <Application>Microsoft Office PowerPoint</Application>
  <PresentationFormat>Grand écran</PresentationFormat>
  <Paragraphs>64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 Popescu</cp:lastModifiedBy>
  <cp:revision>3</cp:revision>
  <dcterms:created xsi:type="dcterms:W3CDTF">2013-01-27T09:14:16Z</dcterms:created>
  <dcterms:modified xsi:type="dcterms:W3CDTF">2026-07-28T09:45:56Z</dcterms:modified>
  <cp:category/>
</cp:coreProperties>
</file>