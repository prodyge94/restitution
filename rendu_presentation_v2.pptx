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1" d="100"/>
          <a:sy n="101" d="100"/>
        </p:scale>
        <p:origin x="324" y="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C87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417320"/>
            <a:ext cx="10332720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 dirty="0">
                <a:solidFill>
                  <a:srgbClr val="075D66"/>
                </a:solidFill>
                <a:latin typeface="Calibri"/>
              </a:rPr>
              <a:t>REPORTING ET RESTITUTION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332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 i="0">
                <a:solidFill>
                  <a:srgbClr val="142128"/>
                </a:solidFill>
                <a:latin typeface="Calibri"/>
              </a:rPr>
              <a:t>US Flight Delays and Cancellations 2015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6324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0" i="0">
                <a:solidFill>
                  <a:srgbClr val="687985"/>
                </a:solidFill>
                <a:latin typeface="Calibri"/>
              </a:rPr>
              <a:t>Retards et annulations des vols domestiques américains : quand, qui, où ?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886200"/>
            <a:ext cx="2926080" cy="28575"/>
          </a:xfrm>
          <a:prstGeom prst="rect">
            <a:avLst/>
          </a:prstGeom>
          <a:solidFill>
            <a:srgbClr val="0C87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4160520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28"/>
                </a:solidFill>
                <a:latin typeface="Calibri"/>
              </a:rPr>
              <a:t>POPESCU Dan</a:t>
            </a:r>
            <a:r>
              <a:rPr sz="1700" b="0" i="0">
                <a:solidFill>
                  <a:srgbClr val="687985"/>
                </a:solidFill>
                <a:latin typeface="Calibri"/>
              </a:rPr>
              <a:t>   ·   </a:t>
            </a:r>
            <a:r>
              <a:rPr sz="1700" b="1" i="0">
                <a:solidFill>
                  <a:srgbClr val="142128"/>
                </a:solidFill>
                <a:latin typeface="Calibri"/>
              </a:rPr>
              <a:t>BEN AMMAR Medy</a:t>
            </a:r>
            <a:r>
              <a:rPr sz="1700" b="0" i="0">
                <a:solidFill>
                  <a:srgbClr val="687985"/>
                </a:solidFill>
                <a:latin typeface="Calibri"/>
              </a:rPr>
              <a:t>   ·   </a:t>
            </a:r>
            <a:r>
              <a:rPr sz="1700" b="1" i="0">
                <a:solidFill>
                  <a:srgbClr val="142128"/>
                </a:solidFill>
                <a:latin typeface="Calibri"/>
              </a:rPr>
              <a:t>SATOURI Ahmed</a:t>
            </a:r>
            <a:r>
              <a:rPr sz="1700" b="0" i="0">
                <a:solidFill>
                  <a:srgbClr val="687985"/>
                </a:solidFill>
                <a:latin typeface="Calibri"/>
              </a:rPr>
              <a:t>   ·   </a:t>
            </a:r>
            <a:r>
              <a:rPr sz="1700" b="1" i="0">
                <a:solidFill>
                  <a:srgbClr val="142128"/>
                </a:solidFill>
                <a:latin typeface="Calibri"/>
              </a:rPr>
              <a:t>PALMIER Robin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87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075D66"/>
                </a:solidFill>
                <a:latin typeface="Calibri"/>
              </a:rPr>
              <a:t>LE 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42128"/>
                </a:solidFill>
                <a:latin typeface="Calibri"/>
              </a:rPr>
              <a:t>5,8 millions de vols sous la loupe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91640"/>
            <a:ext cx="1115568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0C8792"/>
                </a:solidFill>
                <a:latin typeface="Calibri"/>
              </a:rPr>
              <a:t>▪  </a:t>
            </a:r>
            <a:r>
              <a:rPr sz="1700" b="1" i="0">
                <a:solidFill>
                  <a:srgbClr val="142128"/>
                </a:solidFill>
                <a:latin typeface="Calibri"/>
              </a:rPr>
              <a:t>Source officielle</a:t>
            </a:r>
            <a:r>
              <a:rPr sz="1700" b="0" i="0">
                <a:solidFill>
                  <a:srgbClr val="142128"/>
                </a:solidFill>
                <a:latin typeface="Calibri"/>
              </a:rPr>
              <a:t> — « 2015 Flight Delays and Cancellations » (Kaggle), publié par le ministère américain des Transports (US DOT)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0C8792"/>
                </a:solidFill>
                <a:latin typeface="Calibri"/>
              </a:rPr>
              <a:t>▪  </a:t>
            </a:r>
            <a:r>
              <a:rPr sz="1700" b="1" i="0">
                <a:solidFill>
                  <a:srgbClr val="142128"/>
                </a:solidFill>
                <a:latin typeface="Calibri"/>
              </a:rPr>
              <a:t>Périmètre</a:t>
            </a:r>
            <a:r>
              <a:rPr sz="1700" b="0" i="0">
                <a:solidFill>
                  <a:srgbClr val="142128"/>
                </a:solidFill>
                <a:latin typeface="Calibri"/>
              </a:rPr>
              <a:t> — tous les vols intérieurs américains de l'année 2015, 12 mois complets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0C8792"/>
                </a:solidFill>
                <a:latin typeface="Calibri"/>
              </a:rPr>
              <a:t>▪  </a:t>
            </a:r>
            <a:r>
              <a:rPr sz="1700" b="1" i="0">
                <a:solidFill>
                  <a:srgbClr val="142128"/>
                </a:solidFill>
                <a:latin typeface="Calibri"/>
              </a:rPr>
              <a:t>Une ligne = un vol programmé</a:t>
            </a:r>
            <a:r>
              <a:rPr sz="1700" b="0" i="0">
                <a:solidFill>
                  <a:srgbClr val="142128"/>
                </a:solidFill>
                <a:latin typeface="Calibri"/>
              </a:rPr>
              <a:t> — date, compagnie, aéroports de départ et d'arrivée, horaires, retard, annulation et son motif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0C8792"/>
                </a:solidFill>
                <a:latin typeface="Calibri"/>
              </a:rPr>
              <a:t>▪  </a:t>
            </a:r>
            <a:r>
              <a:rPr sz="1700" b="1" i="0">
                <a:solidFill>
                  <a:srgbClr val="142128"/>
                </a:solidFill>
                <a:latin typeface="Calibri"/>
              </a:rPr>
              <a:t>Trois fichiers croisés</a:t>
            </a:r>
            <a:r>
              <a:rPr sz="1700" b="0" i="0">
                <a:solidFill>
                  <a:srgbClr val="142128"/>
                </a:solidFill>
                <a:latin typeface="Calibri"/>
              </a:rPr>
              <a:t> — les vols (592 Mo), l'annuaire des 14 compagnies, les 322 aéroports avec leurs coordonnées (pour la carte)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160520"/>
            <a:ext cx="2615184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4270248"/>
            <a:ext cx="50292" cy="1197864"/>
          </a:xfrm>
          <a:prstGeom prst="rect">
            <a:avLst/>
          </a:prstGeom>
          <a:solidFill>
            <a:srgbClr val="0C87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04088" y="4288536"/>
            <a:ext cx="2249424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687985"/>
                </a:solidFill>
                <a:latin typeface="Calibri"/>
              </a:rPr>
              <a:t>VOLS ANALYSÉS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4562856"/>
            <a:ext cx="2249424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 i="0">
                <a:solidFill>
                  <a:srgbClr val="142128"/>
                </a:solidFill>
                <a:latin typeface="Calibri"/>
              </a:rPr>
              <a:t>5 819 079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5193792"/>
            <a:ext cx="2249424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87985"/>
                </a:solidFill>
                <a:latin typeface="Calibri"/>
              </a:rPr>
              <a:t>année 2015 complète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46704" y="4160520"/>
            <a:ext cx="2615184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346704" y="4270248"/>
            <a:ext cx="50292" cy="1197864"/>
          </a:xfrm>
          <a:prstGeom prst="rect">
            <a:avLst/>
          </a:prstGeom>
          <a:solidFill>
            <a:srgbClr val="0C87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47872" y="4288536"/>
            <a:ext cx="2249424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687985"/>
                </a:solidFill>
                <a:latin typeface="Calibri"/>
              </a:rPr>
              <a:t>COMPAGNIES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2" y="4562856"/>
            <a:ext cx="2249424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 i="0">
                <a:solidFill>
                  <a:srgbClr val="142128"/>
                </a:solidFill>
                <a:latin typeface="Calibri"/>
              </a:rPr>
              <a:t>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7872" y="5193792"/>
            <a:ext cx="2249424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87985"/>
                </a:solidFill>
                <a:latin typeface="Calibri"/>
              </a:rPr>
              <a:t>de Delta à Spirit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0488" y="4160520"/>
            <a:ext cx="2615184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90488" y="4270248"/>
            <a:ext cx="50292" cy="1197864"/>
          </a:xfrm>
          <a:prstGeom prst="rect">
            <a:avLst/>
          </a:prstGeom>
          <a:solidFill>
            <a:srgbClr val="0C87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91656" y="4288536"/>
            <a:ext cx="2249424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687985"/>
                </a:solidFill>
                <a:latin typeface="Calibri"/>
              </a:rPr>
              <a:t>AÉROPORTS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1656" y="4562856"/>
            <a:ext cx="2249424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 i="0">
                <a:solidFill>
                  <a:srgbClr val="142128"/>
                </a:solidFill>
                <a:latin typeface="Calibri"/>
              </a:rPr>
              <a:t>322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6" y="5193792"/>
            <a:ext cx="2249424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87985"/>
                </a:solidFill>
                <a:latin typeface="Calibri"/>
              </a:rPr>
              <a:t>4 693 liaisons directes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34272" y="4160520"/>
            <a:ext cx="2615184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034272" y="4270248"/>
            <a:ext cx="50292" cy="1197864"/>
          </a:xfrm>
          <a:prstGeom prst="rect">
            <a:avLst/>
          </a:prstGeom>
          <a:solidFill>
            <a:srgbClr val="EB5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235440" y="4288536"/>
            <a:ext cx="2249424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687985"/>
                </a:solidFill>
                <a:latin typeface="Calibri"/>
              </a:rPr>
              <a:t>VOLS EN RETARD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4562856"/>
            <a:ext cx="2249424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 i="0">
                <a:solidFill>
                  <a:srgbClr val="142128"/>
                </a:solidFill>
                <a:latin typeface="Calibri"/>
              </a:rPr>
              <a:t>18,6 %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5193792"/>
            <a:ext cx="2249424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87985"/>
                </a:solidFill>
                <a:latin typeface="Calibri"/>
              </a:rPr>
              <a:t>1,5 % de vols annulés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55664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87985"/>
                </a:solidFill>
                <a:latin typeface="Calibri"/>
              </a:rPr>
              <a:t>US Flight Delays and Cancellations 2015 — Reporting et Restitution · ESGI M1 IA &amp; Big Data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55664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687985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87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075D66"/>
                </a:solidFill>
                <a:latin typeface="Calibri"/>
              </a:rPr>
              <a:t>PRÉPARATION DES DONNÉES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42128"/>
                </a:solidFill>
                <a:latin typeface="Calibri"/>
              </a:rPr>
              <a:t>Un nettoyage guidé par un audit qualité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91640"/>
            <a:ext cx="1115568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700" b="1" i="0">
                <a:solidFill>
                  <a:srgbClr val="0C8792"/>
                </a:solidFill>
                <a:latin typeface="Calibri"/>
              </a:rPr>
              <a:t>▪  </a:t>
            </a:r>
            <a:r>
              <a:rPr sz="1700" b="1" i="0">
                <a:solidFill>
                  <a:srgbClr val="142128"/>
                </a:solidFill>
                <a:latin typeface="Calibri"/>
              </a:rPr>
              <a:t>Chargement maîtrisé</a:t>
            </a:r>
            <a:r>
              <a:rPr sz="1700" b="0" i="0">
                <a:solidFill>
                  <a:srgbClr val="142128"/>
                </a:solidFill>
                <a:latin typeface="Calibri"/>
              </a:rPr>
              <a:t> — seules les colonnes utiles du fichier de 592 Mo sont lues, avec des types compacts pour tenir en mémoire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700" b="1" i="0">
                <a:solidFill>
                  <a:srgbClr val="0C8792"/>
                </a:solidFill>
                <a:latin typeface="Calibri"/>
              </a:rPr>
              <a:t>▪  </a:t>
            </a:r>
            <a:r>
              <a:rPr sz="1700" b="1" i="0">
                <a:solidFill>
                  <a:srgbClr val="142128"/>
                </a:solidFill>
                <a:latin typeface="Calibri"/>
              </a:rPr>
              <a:t>Valeurs manquantes expliquées</a:t>
            </a:r>
            <a:r>
              <a:rPr sz="1700" b="0" i="0">
                <a:solidFill>
                  <a:srgbClr val="142128"/>
                </a:solidFill>
                <a:latin typeface="Calibri"/>
              </a:rPr>
              <a:t> — 105 071 retards absents correspondent exactement aux vols annulés ou déroutés : ils sont retirés du calcul des retards au lieu d'être comptés « à l'heure »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700" b="1" i="0">
                <a:solidFill>
                  <a:srgbClr val="0C8792"/>
                </a:solidFill>
                <a:latin typeface="Calibri"/>
              </a:rPr>
              <a:t>▪  </a:t>
            </a:r>
            <a:r>
              <a:rPr sz="1700" b="1" i="0">
                <a:solidFill>
                  <a:srgbClr val="142128"/>
                </a:solidFill>
                <a:latin typeface="Calibri"/>
              </a:rPr>
              <a:t>Anomalie détectée sur octobre</a:t>
            </a:r>
            <a:r>
              <a:rPr sz="1700" b="0" i="0">
                <a:solidFill>
                  <a:srgbClr val="142128"/>
                </a:solidFill>
                <a:latin typeface="Calibri"/>
              </a:rPr>
              <a:t> — les aéroports y sont codés différemment du reste de l'année ; le mois est écarté de la seule analyse des liaisons (2,7 % des annulations)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700" b="1" i="0">
                <a:solidFill>
                  <a:srgbClr val="0C8792"/>
                </a:solidFill>
                <a:latin typeface="Calibri"/>
              </a:rPr>
              <a:t>▪  </a:t>
            </a:r>
            <a:r>
              <a:rPr sz="1700" b="1" i="0">
                <a:solidFill>
                  <a:srgbClr val="142128"/>
                </a:solidFill>
                <a:latin typeface="Calibri"/>
              </a:rPr>
              <a:t>Définitions officielles</a:t>
            </a:r>
            <a:r>
              <a:rPr sz="1700" b="0" i="0">
                <a:solidFill>
                  <a:srgbClr val="142128"/>
                </a:solidFill>
                <a:latin typeface="Calibri"/>
              </a:rPr>
              <a:t> — un vol est « en retard » à partir de 15 minutes à l'arrivée (norme du US DOT) ; les périodes de vacances 2015 sont bornées explicitement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700" b="1" i="0">
                <a:solidFill>
                  <a:srgbClr val="0C8792"/>
                </a:solidFill>
                <a:latin typeface="Calibri"/>
              </a:rPr>
              <a:t>▪  </a:t>
            </a:r>
            <a:r>
              <a:rPr sz="1700" b="1" i="0">
                <a:solidFill>
                  <a:srgbClr val="142128"/>
                </a:solidFill>
                <a:latin typeface="Calibri"/>
              </a:rPr>
              <a:t>Résultats reproductibles</a:t>
            </a:r>
            <a:r>
              <a:rPr sz="1700" b="0" i="0">
                <a:solidFill>
                  <a:srgbClr val="142128"/>
                </a:solidFill>
                <a:latin typeface="Calibri"/>
              </a:rPr>
              <a:t> — aucun chiffre saisi à la main : tableaux, graphiques et dashboard sont générés par le notebook, une ré-exécution met tout à jour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87985"/>
                </a:solidFill>
                <a:latin typeface="Calibri"/>
              </a:rPr>
              <a:t>US Flight Delays and Cancellations 2015 — Reporting et Restitution · ESGI M1 IA &amp; Big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687985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87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075D66"/>
                </a:solidFill>
                <a:latin typeface="Calibri"/>
              </a:rPr>
              <a:t>HYPOTHÈSES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42128"/>
                </a:solidFill>
                <a:latin typeface="Calibri"/>
              </a:rPr>
              <a:t>Trois hypothèses posées avant l'analyse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828800"/>
            <a:ext cx="11155680" cy="1298448"/>
          </a:xfrm>
          <a:prstGeom prst="roundRect">
            <a:avLst>
              <a:gd name="adj" fmla="val 10000"/>
            </a:avLst>
          </a:prstGeom>
          <a:solidFill>
            <a:srgbClr val="F4F7F8"/>
          </a:solidFill>
          <a:ln w="12700">
            <a:solidFill>
              <a:srgbClr val="DC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77240" y="2258568"/>
            <a:ext cx="1691640" cy="438912"/>
          </a:xfrm>
          <a:prstGeom prst="roundRect">
            <a:avLst>
              <a:gd name="adj" fmla="val 50000"/>
            </a:avLst>
          </a:prstGeom>
          <a:solidFill>
            <a:srgbClr val="E6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 b="1">
                <a:solidFill>
                  <a:srgbClr val="075D66"/>
                </a:solidFill>
                <a:latin typeface="Calibri"/>
              </a:rPr>
              <a:t>H1 · QUAND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8920" y="1993392"/>
            <a:ext cx="86868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142128"/>
                </a:solidFill>
                <a:latin typeface="Calibri"/>
              </a:rPr>
              <a:t>Il y a plus de vols en retard pendant les vacances que le reste de l'année.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310128"/>
            <a:ext cx="11155680" cy="1298448"/>
          </a:xfrm>
          <a:prstGeom prst="roundRect">
            <a:avLst>
              <a:gd name="adj" fmla="val 10000"/>
            </a:avLst>
          </a:prstGeom>
          <a:solidFill>
            <a:srgbClr val="F4F7F8"/>
          </a:solidFill>
          <a:ln w="12700">
            <a:solidFill>
              <a:srgbClr val="DC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77240" y="3739896"/>
            <a:ext cx="1691640" cy="438912"/>
          </a:xfrm>
          <a:prstGeom prst="roundRect">
            <a:avLst>
              <a:gd name="adj" fmla="val 50000"/>
            </a:avLst>
          </a:prstGeom>
          <a:solidFill>
            <a:srgbClr val="E6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 b="1" dirty="0">
                <a:solidFill>
                  <a:srgbClr val="075D66"/>
                </a:solidFill>
                <a:latin typeface="Calibri"/>
              </a:rPr>
              <a:t>H2 · QUI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3474720"/>
            <a:ext cx="86868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142128"/>
                </a:solidFill>
                <a:latin typeface="Calibri"/>
              </a:rPr>
              <a:t>Les longs courriers composent la plus grande majorité des retards.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791456"/>
            <a:ext cx="11155680" cy="1298448"/>
          </a:xfrm>
          <a:prstGeom prst="roundRect">
            <a:avLst>
              <a:gd name="adj" fmla="val 10000"/>
            </a:avLst>
          </a:prstGeom>
          <a:solidFill>
            <a:srgbClr val="F4F7F8"/>
          </a:solidFill>
          <a:ln w="12700">
            <a:solidFill>
              <a:srgbClr val="DC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777240" y="5221224"/>
            <a:ext cx="1691640" cy="438912"/>
          </a:xfrm>
          <a:prstGeom prst="roundRect">
            <a:avLst>
              <a:gd name="adj" fmla="val 50000"/>
            </a:avLst>
          </a:prstGeom>
          <a:solidFill>
            <a:srgbClr val="E6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 b="1">
                <a:solidFill>
                  <a:srgbClr val="075D66"/>
                </a:solidFill>
                <a:latin typeface="Calibri"/>
              </a:rPr>
              <a:t>H3 · OÙ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4956048"/>
            <a:ext cx="86868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142128"/>
                </a:solidFill>
                <a:latin typeface="Calibri"/>
              </a:rPr>
              <a:t>Une petite minorité de liaisons concentre la majorité des annulations.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55664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87985"/>
                </a:solidFill>
                <a:latin typeface="Calibri"/>
              </a:rPr>
              <a:t>US Flight Delays and Cancellations 2015 — Reporting et Restitution · ESGI M1 IA &amp; Big 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455664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687985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87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247120" y="6455664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687985"/>
                </a:solidFill>
                <a:latin typeface="Calibri"/>
              </a:rPr>
              <a:t>5</a:t>
            </a:r>
          </a:p>
        </p:txBody>
      </p:sp>
      <p:pic>
        <p:nvPicPr>
          <p:cNvPr id="8" name="Picture 7" descr="capture_dashboard_v2_commi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4686" y="294184"/>
            <a:ext cx="11522628" cy="64815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87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075D66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42128"/>
                </a:solidFill>
                <a:latin typeface="Calibri"/>
              </a:rPr>
              <a:t>Ce que les données ont répondu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700784"/>
            <a:ext cx="50292" cy="1051560"/>
          </a:xfrm>
          <a:prstGeom prst="rect">
            <a:avLst/>
          </a:prstGeom>
          <a:solidFill>
            <a:srgbClr val="0C87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28"/>
                </a:solidFill>
                <a:latin typeface="Calibri"/>
              </a:rPr>
              <a:t>H1  </a:t>
            </a:r>
            <a:r>
              <a:rPr sz="1400" b="1" i="0">
                <a:solidFill>
                  <a:srgbClr val="0C8792"/>
                </a:solidFill>
                <a:latin typeface="Calibri"/>
              </a:rPr>
              <a:t>CONFIRMÉE, À PRÉCISER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93392"/>
            <a:ext cx="108813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50" b="0" i="0">
                <a:solidFill>
                  <a:srgbClr val="142128"/>
                </a:solidFill>
                <a:latin typeface="Calibri"/>
              </a:rPr>
              <a:t>Ce ne sont pas « les vacances » qui retardent les vols, mais les pics de fin d'année : Nouvel an (+18 pts) et Noël (+15 pts). L'été pèse peu (+4 pts), Thanksgiving rien du tout.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999232"/>
            <a:ext cx="50292" cy="1051560"/>
          </a:xfrm>
          <a:prstGeom prst="rect">
            <a:avLst/>
          </a:prstGeom>
          <a:solidFill>
            <a:srgbClr val="EB5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294436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28"/>
                </a:solidFill>
                <a:latin typeface="Calibri"/>
              </a:rPr>
              <a:t>H2  </a:t>
            </a:r>
            <a:r>
              <a:rPr sz="1400" b="1" i="0">
                <a:solidFill>
                  <a:srgbClr val="EB5A3C"/>
                </a:solidFill>
                <a:latin typeface="Calibri"/>
              </a:rPr>
              <a:t>RÉFUTÉE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91840"/>
            <a:ext cx="108813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50" b="0" i="0">
                <a:solidFill>
                  <a:srgbClr val="142128"/>
                </a:solidFill>
                <a:latin typeface="Calibri"/>
              </a:rPr>
              <a:t>Les vols longs ne portent que 13 % des retards — exactement leur part du trafic. La distance n'y change rien : les vols longs rattrapent jusqu'à 9 minutes en vol, et même les compagnies spécialisées ne sont pas plus en retard.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4297680"/>
            <a:ext cx="50292" cy="1051560"/>
          </a:xfrm>
          <a:prstGeom prst="rect">
            <a:avLst/>
          </a:prstGeom>
          <a:solidFill>
            <a:srgbClr val="0C87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" y="424281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28"/>
                </a:solidFill>
                <a:latin typeface="Calibri"/>
              </a:rPr>
              <a:t>H3  </a:t>
            </a:r>
            <a:r>
              <a:rPr sz="1400" b="1" i="0">
                <a:solidFill>
                  <a:srgbClr val="0C8792"/>
                </a:solidFill>
                <a:latin typeface="Calibri"/>
              </a:rPr>
              <a:t>CONFIRMÉE, À NUANCER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590288"/>
            <a:ext cx="108813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50" b="0" i="0">
                <a:solidFill>
                  <a:srgbClr val="142128"/>
                </a:solidFill>
                <a:latin typeface="Calibri"/>
              </a:rPr>
              <a:t>10 % des liaisons portent la moitié des annulations… mais déjà 39 % du trafic. À trafic égal, les liaisons sensibles — navettes du Nord-Est en hiver — sont annulées 2,6 fois plus souvent.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632704"/>
            <a:ext cx="11155680" cy="777240"/>
          </a:xfrm>
          <a:prstGeom prst="roundRect">
            <a:avLst>
              <a:gd name="adj" fmla="val 14000"/>
            </a:avLst>
          </a:prstGeom>
          <a:solidFill>
            <a:srgbClr val="E6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" y="5632704"/>
            <a:ext cx="10698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75D66"/>
                </a:solidFill>
                <a:latin typeface="Calibri"/>
              </a:rPr>
              <a:t>Fil conducteur : </a:t>
            </a:r>
            <a:r>
              <a:rPr sz="1600" b="0" i="0">
                <a:solidFill>
                  <a:srgbClr val="142128"/>
                </a:solidFill>
                <a:latin typeface="Calibri"/>
              </a:rPr>
              <a:t>les retards suivent le calendrier, les annulations suivent la météo et le réseau — deux phénomènes à piloter séparément.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55664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 dirty="0">
                <a:solidFill>
                  <a:srgbClr val="687985"/>
                </a:solidFill>
                <a:latin typeface="Calibri"/>
              </a:rPr>
              <a:t>US Flight Delays and Cancellations 2015 — Reporting et Restitution · ESGI M1 IA &amp; Big 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0" y="6455664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687985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87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075D66"/>
                </a:solidFill>
                <a:latin typeface="Calibri"/>
              </a:rPr>
              <a:t>RÉFÉRENCES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42128"/>
                </a:solidFill>
                <a:latin typeface="Calibri"/>
              </a:rPr>
              <a:t>Sources et outils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737360"/>
            <a:ext cx="1115568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600" b="1" i="0">
                <a:solidFill>
                  <a:srgbClr val="0C8792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142128"/>
                </a:solidFill>
                <a:latin typeface="Calibri"/>
              </a:rPr>
              <a:t>Dataset</a:t>
            </a:r>
            <a:r>
              <a:rPr sz="1600" b="0" i="0">
                <a:solidFill>
                  <a:srgbClr val="142128"/>
                </a:solidFill>
                <a:latin typeface="Calibri"/>
              </a:rPr>
              <a:t> — « 2015 Flight Delays and Cancellations », Kaggle / U.S. Department of Transportation — kaggle.com/datasets/usdot/flight-delays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600" b="1" i="0">
                <a:solidFill>
                  <a:srgbClr val="0C8792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142128"/>
                </a:solidFill>
                <a:latin typeface="Calibri"/>
              </a:rPr>
              <a:t>Norme de ponctualité</a:t>
            </a:r>
            <a:r>
              <a:rPr sz="1600" b="0" i="0">
                <a:solidFill>
                  <a:srgbClr val="142128"/>
                </a:solidFill>
                <a:latin typeface="Calibri"/>
              </a:rPr>
              <a:t> — U.S. DOT, Bureau of Transportation Statistics — un vol est en retard à partir de 15 minutes après l'horaire d'arrivée prévu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600" b="1" i="0">
                <a:solidFill>
                  <a:srgbClr val="0C8792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142128"/>
                </a:solidFill>
                <a:latin typeface="Calibri"/>
              </a:rPr>
              <a:t>Fond de carte</a:t>
            </a:r>
            <a:r>
              <a:rPr sz="1600" b="0" i="0">
                <a:solidFill>
                  <a:srgbClr val="142128"/>
                </a:solidFill>
                <a:latin typeface="Calibri"/>
              </a:rPr>
              <a:t> — US Atlas TopoJSON — github.com/topojson/us-atlas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600" b="1" i="0">
                <a:solidFill>
                  <a:srgbClr val="0C8792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142128"/>
                </a:solidFill>
                <a:latin typeface="Calibri"/>
              </a:rPr>
              <a:t>Analyse</a:t>
            </a:r>
            <a:r>
              <a:rPr sz="1600" b="0" i="0">
                <a:solidFill>
                  <a:srgbClr val="142128"/>
                </a:solidFill>
                <a:latin typeface="Calibri"/>
              </a:rPr>
              <a:t> — Python : pandas, NumPy, SciPy, Matplotlib — notebook Jupyter unique, de la donnée brute au dashboard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600" b="1" i="0">
                <a:solidFill>
                  <a:srgbClr val="0C8792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142128"/>
                </a:solidFill>
                <a:latin typeface="Calibri"/>
              </a:rPr>
              <a:t>Restitution</a:t>
            </a:r>
            <a:r>
              <a:rPr sz="1600" b="0" i="0">
                <a:solidFill>
                  <a:srgbClr val="142128"/>
                </a:solidFill>
                <a:latin typeface="Calibri"/>
              </a:rPr>
              <a:t> — dashboard HTML autonome (aucune connexion requise), alimenté automatiquement par le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87985"/>
                </a:solidFill>
                <a:latin typeface="Calibri"/>
              </a:rPr>
              <a:t>US Flight Delays and Cancellations 2015 — Reporting et Restitution · ESGI M1 IA &amp; Big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687985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751</Words>
  <Application>Microsoft Office PowerPoint</Application>
  <PresentationFormat>Grand écran</PresentationFormat>
  <Paragraphs>64</Paragraphs>
  <Slides>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Dan Popescu</cp:lastModifiedBy>
  <cp:revision>3</cp:revision>
  <dcterms:created xsi:type="dcterms:W3CDTF">2013-01-27T09:14:16Z</dcterms:created>
  <dcterms:modified xsi:type="dcterms:W3CDTF">2026-07-28T09:45:56Z</dcterms:modified>
  <cp:category/>
</cp:coreProperties>
</file>