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72126"/>
                </a:solidFill>
                <a:latin typeface="Calibri"/>
              </a:rPr>
              <a:t>Nos hypothèses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0"/>
                </a:solidFill>
                <a:latin typeface="Calibri"/>
              </a:rPr>
              <a:t>Trois affirmations testables, confrontées à 5,8 M de vols.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323057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21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874519"/>
            <a:ext cx="2645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45C3A"/>
                </a:solidFill>
                <a:latin typeface="Calibri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679191"/>
            <a:ext cx="2645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72126"/>
                </a:solidFill>
                <a:latin typeface="Calibri"/>
              </a:rPr>
              <a:t>Le temps influence les retards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931920"/>
            <a:ext cx="264535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0"/>
                </a:solidFill>
                <a:latin typeface="Calibri"/>
              </a:rPr>
              <a:t>Les retards changent selon le mois et surtout selon l'heure de départ. Le soir concentre plus de risque que le matin.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5788152"/>
            <a:ext cx="2645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126"/>
                </a:solidFill>
                <a:latin typeface="Calibri"/>
              </a:rPr>
              <a:t>Cycle horaire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4975" y="1600200"/>
            <a:ext cx="323057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21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7583" y="1874519"/>
            <a:ext cx="2645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45C3A"/>
                </a:solidFill>
                <a:latin typeface="Calibri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7583" y="2679191"/>
            <a:ext cx="2645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72126"/>
                </a:solidFill>
                <a:latin typeface="Calibri"/>
              </a:rPr>
              <a:t>La ponctualité dépend des compagnies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7583" y="3931920"/>
            <a:ext cx="264535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0"/>
                </a:solidFill>
                <a:latin typeface="Calibri"/>
              </a:rPr>
              <a:t>Les compagnies n'ont pas le même taux de retard. Les causes déclarées permettent aussi d'identifier ce qui génère les minutes perdues.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7583" y="5788152"/>
            <a:ext cx="2645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126"/>
                </a:solidFill>
                <a:latin typeface="Calibri"/>
              </a:rPr>
              <a:t>Compagnies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310" y="1600200"/>
            <a:ext cx="323057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21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3918" y="1874519"/>
            <a:ext cx="26453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45C3A"/>
                </a:solidFill>
                <a:latin typeface="Calibri"/>
              </a:rPr>
              <a:t>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3918" y="2679191"/>
            <a:ext cx="264535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72126"/>
                </a:solidFill>
                <a:latin typeface="Calibri"/>
              </a:rPr>
              <a:t>Certaines routes concentrent le risque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3918" y="3931920"/>
            <a:ext cx="264535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B70"/>
                </a:solidFill>
                <a:latin typeface="Calibri"/>
              </a:rPr>
              <a:t>Une route correspond à une liaison origine → destination. On classe les routes par volume, taux de retard et score de sensibilité.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3918" y="5788152"/>
            <a:ext cx="26453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126"/>
                </a:solidFill>
                <a:latin typeface="Calibri"/>
              </a:rPr>
              <a:t>Routes aériennes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721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F6B70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shboard_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86" y="0"/>
            <a:ext cx="790092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721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556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5F6B7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